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Arial"/>
              </a:rPr>
              <a:t>MAISON AURORE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9814255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FFFFFF"/>
                </a:solidFill>
                <a:latin typeface="Georgia"/>
              </a:rPr>
              <a:t>One system, four roles — the full store-operations</a:t>
            </a:r>
          </a:p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FFFFFF"/>
                </a:solidFill>
                <a:latin typeface="Georgia"/>
              </a:rPr>
              <a:t>loop from schedule generation to the floor.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520440"/>
            <a:ext cx="7985455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0">
                <a:solidFill>
                  <a:srgbClr val="B9B8C9"/>
                </a:solidFill>
                <a:latin typeface="Arial"/>
              </a:rPr>
              <a:t>Product overview and budget brief for stakeholders evaluating rollout across boutiques.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6727" y="4434840"/>
            <a:ext cx="292608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400" b="0" i="0">
                <a:solidFill>
                  <a:srgbClr val="C9A84C"/>
                </a:solidFill>
                <a:latin typeface="Georg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6727" y="5074920"/>
            <a:ext cx="2926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i="0">
                <a:solidFill>
                  <a:srgbClr val="8C8BA3"/>
                </a:solidFill>
                <a:latin typeface="Arial"/>
              </a:rPr>
              <a:t>ROLE-BASED PORTALS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2807" y="4434840"/>
            <a:ext cx="292608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400" b="0" i="0">
                <a:solidFill>
                  <a:srgbClr val="C9A84C"/>
                </a:solidFill>
                <a:latin typeface="Georgia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07" y="5074920"/>
            <a:ext cx="2926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i="0">
                <a:solidFill>
                  <a:srgbClr val="8C8BA3"/>
                </a:solidFill>
                <a:latin typeface="Arial"/>
              </a:rPr>
              <a:t>CONFIGURABLE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8887" y="4434840"/>
            <a:ext cx="292608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400" b="0" i="0">
                <a:solidFill>
                  <a:srgbClr val="C9A84C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8887" y="5074920"/>
            <a:ext cx="29260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1" i="0">
                <a:solidFill>
                  <a:srgbClr val="8C8BA3"/>
                </a:solidFill>
                <a:latin typeface="Arial"/>
              </a:rPr>
              <a:t>BOUTIQUES IN THE CURRENT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500" b="0" i="0">
                <a:solidFill>
                  <a:srgbClr val="1E2761"/>
                </a:solidFill>
                <a:latin typeface="Georgia"/>
              </a:rPr>
              <a:t>A scheduling system built around who actually touches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649224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C9A84C"/>
                </a:solidFill>
                <a:latin typeface="Arial"/>
              </a:rPr>
              <a:t>✦  </a:t>
            </a:r>
            <a:r>
              <a:rPr sz="1350">
                <a:solidFill>
                  <a:srgbClr val="1A1A1A"/>
                </a:solidFill>
                <a:latin typeface="Arial"/>
              </a:rPr>
              <a:t>All four role-scoped portals are now live — Admin, Approver, Staff and Reader — each behind its own sign-in. Every user lands directly in the screen built for their job.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C9A84C"/>
                </a:solidFill>
                <a:latin typeface="Arial"/>
              </a:rPr>
              <a:t>✦  </a:t>
            </a:r>
            <a:r>
              <a:rPr sz="1350">
                <a:solidFill>
                  <a:srgbClr val="1A1A1A"/>
                </a:solidFill>
                <a:latin typeface="Arial"/>
              </a:rPr>
              <a:t>Every roster follows the same lifecycle: draft → submitted → approved → published, with reject and amend paths and a full audit trail. One scoring engine judges both automatic generation and manual edits.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350">
                <a:solidFill>
                  <a:srgbClr val="C9A84C"/>
                </a:solidFill>
                <a:latin typeface="Arial"/>
              </a:rPr>
              <a:t>✦  </a:t>
            </a:r>
            <a:r>
              <a:rPr sz="1350">
                <a:solidFill>
                  <a:srgbClr val="1A1A1A"/>
                </a:solidFill>
                <a:latin typeface="Arial"/>
              </a:rPr>
              <a:t>Staff, VIC clients, shifts and rules are all configured per boutique in one data model. The current dataset covers two boutiques (Sydney and Melbourne); adding a third is configuration, not new engineering.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691640"/>
            <a:ext cx="41148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3508" y="1691640"/>
            <a:ext cx="4058107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37334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/>
              </a:rPr>
              <a:t>WHO IT'S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75688"/>
            <a:ext cx="3733495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Operations admins, the manager who approves each roster, floor staff checking their shifts, and read-only viewers browsing published rosters.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3310128"/>
            <a:ext cx="41148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3508" y="3310128"/>
            <a:ext cx="4058107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3401568"/>
            <a:ext cx="37334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/>
              </a:rPr>
              <a:t>WHAT CHANGED RECENTLY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694176"/>
            <a:ext cx="3733495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Skill requirements can now be scoped to a specific area of the floor (Counter, Fitting Room, Concierge…), not just the shift as a whole — carried through generation, manual edits, exports and each employee's own schedule.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4928616"/>
            <a:ext cx="41148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3508" y="4928616"/>
            <a:ext cx="4058107" cy="141732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5020056"/>
            <a:ext cx="37334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Arial"/>
              </a:rPr>
              <a:t>WHY IT MATTERS FOR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312664"/>
            <a:ext cx="3733495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One codebase, one data model, every boutique — a new store is configuration, not a rebuild.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HOW IT'S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500" b="0" i="0">
                <a:solidFill>
                  <a:srgbClr val="1E2761"/>
                </a:solidFill>
                <a:latin typeface="Georgia"/>
              </a:rPr>
              <a:t>Four portals, one login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Arial"/>
              </a:rPr>
              <a:t>Every user signs in once and lands in the portal that matches their role — no menu of features they don't need.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58568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Operations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Generate and edit rosters, manage staff, VIC clients, shifts, rules and leave — all scoped to the active boutique.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Store / regional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5113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7993" y="2258568"/>
            <a:ext cx="707745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APPROVER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993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Sign-off &amp; publish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A focused inbox of rosters awaiting review, with approve, reject and publish — kept separate from whoever built the draft.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993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Boutique / regional manager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93027" y="2258568"/>
            <a:ext cx="493776" cy="256032"/>
          </a:xfrm>
          <a:prstGeom prst="roundRect">
            <a:avLst>
              <a:gd name="adj" fmla="val 50000"/>
            </a:avLst>
          </a:prstGeom>
          <a:solidFill>
            <a:srgbClr val="DD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1E4D8C"/>
                </a:solidFill>
                <a:latin typeface="Arial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My 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Employees see their own upcoming shifts straight from the published roster, no admin access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Floor staff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181" y="2057400"/>
            <a:ext cx="255643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78061" y="2258568"/>
            <a:ext cx="565099" cy="256032"/>
          </a:xfrm>
          <a:prstGeom prst="roundRect">
            <a:avLst>
              <a:gd name="adj" fmla="val 50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4A3280"/>
                </a:solidFill>
                <a:latin typeface="Arial"/>
              </a:rPr>
              <a:t>READER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8061" y="2651760"/>
            <a:ext cx="2190673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E2761"/>
                </a:solidFill>
                <a:latin typeface="Arial"/>
              </a:rPr>
              <a:t>Published Rosters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8061" y="3474720"/>
            <a:ext cx="2190673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A read-only roster browser with one-click CSV and PDF export, for a shared back-of-house screen or printout.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8061" y="5669280"/>
            <a:ext cx="2190673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Arial"/>
              </a:rPr>
              <a:t>Shared / front-of-house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THE ROSTER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200" b="0" i="0">
                <a:solidFill>
                  <a:srgbClr val="1E2761"/>
                </a:solidFill>
                <a:latin typeface="Georgia"/>
              </a:rPr>
              <a:t>From a blank date to a shift someone sees on their phone.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Arial"/>
              </a:rPr>
              <a:t>Every roster — machine-generated or hand-built — moves through the same six steps, with a permanent record at each one.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01952"/>
            <a:ext cx="279897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76272"/>
            <a:ext cx="2798978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Generate a draft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78608"/>
            <a:ext cx="2798978" cy="1142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Pick a date. The engine reads that boutique's staff, skills, VIC appointments, leave and shift rules and proposes a scored roster.</a:t>
            </a:r>
          </a:p>
        </p:txBody>
      </p:sp>
      <p:sp>
        <p:nvSpPr>
          <p:cNvPr id="11" name="Oval 10"/>
          <p:cNvSpPr/>
          <p:nvPr/>
        </p:nvSpPr>
        <p:spPr>
          <a:xfrm>
            <a:off x="4399178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3538" y="1901952"/>
            <a:ext cx="279897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3538" y="2176272"/>
            <a:ext cx="2798978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Review &amp; adjust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3538" y="2578608"/>
            <a:ext cx="2798978" cy="1142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Unmet requirements and rule flags are called out per shift. Add or remove staff by hand — the score recalculates live.</a:t>
            </a:r>
          </a:p>
        </p:txBody>
      </p:sp>
      <p:sp>
        <p:nvSpPr>
          <p:cNvPr id="16" name="Oval 15"/>
          <p:cNvSpPr/>
          <p:nvPr/>
        </p:nvSpPr>
        <p:spPr>
          <a:xfrm>
            <a:off x="8158276" y="19202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8276" y="1920240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2636" y="1901952"/>
            <a:ext cx="279897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ADMIN → APPROVER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2636" y="2176272"/>
            <a:ext cx="2798978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Submit for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2636" y="2578608"/>
            <a:ext cx="2798978" cy="114299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The draft leaves the admin's queue and appears in the approver's Approval Inbox, score and overrides visible.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2335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59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05071"/>
            <a:ext cx="1031717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APPROVER · INBOX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1"/>
            <a:ext cx="10317175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Approve or 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81727"/>
            <a:ext cx="10317175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The approver — a separate role from whoever built the draft — checks it and decides.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4983479"/>
            <a:ext cx="5021427" cy="566928"/>
          </a:xfrm>
          <a:prstGeom prst="roundRect">
            <a:avLst>
              <a:gd name="adj" fmla="val 6000"/>
            </a:avLst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038343"/>
            <a:ext cx="465566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7500A"/>
                </a:solidFill>
                <a:latin typeface="Arial"/>
              </a:rPr>
              <a:t>APPROVED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7500A"/>
                </a:solidFill>
                <a:latin typeface="Arial"/>
              </a:rPr>
              <a:t>Moves on to publish.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0187" y="4983479"/>
            <a:ext cx="5021427" cy="566928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3067" y="5038343"/>
            <a:ext cx="4655667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91F1F"/>
                </a:solidFill>
                <a:latin typeface="Arial"/>
              </a:rPr>
              <a:t>REJECTED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791F1F"/>
                </a:solidFill>
                <a:latin typeface="Arial"/>
              </a:rPr>
              <a:t>Returns to Draft with a note, back to step 2 — no dead end.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6071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60719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42431"/>
            <a:ext cx="4495647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APPROVER · INBOX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016751"/>
            <a:ext cx="4495647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6419087"/>
            <a:ext cx="4495647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If another roster is already published for that boutique and date, it's automatically marked Amended and superseded.</a:t>
            </a:r>
          </a:p>
        </p:txBody>
      </p:sp>
      <p:sp>
        <p:nvSpPr>
          <p:cNvPr id="35" name="Oval 34"/>
          <p:cNvSpPr/>
          <p:nvPr/>
        </p:nvSpPr>
        <p:spPr>
          <a:xfrm>
            <a:off x="6095847" y="576071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5847" y="5760719"/>
            <a:ext cx="457200" cy="457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600" b="0" i="0">
                <a:solidFill>
                  <a:srgbClr val="E8D09A"/>
                </a:solidFill>
                <a:latin typeface="Georg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0207" y="5742431"/>
            <a:ext cx="4495647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Arial"/>
              </a:rPr>
              <a:t>STAFF · MY SCHEDULE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0207" y="6016751"/>
            <a:ext cx="4495647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50" b="1" i="0">
                <a:solidFill>
                  <a:srgbClr val="1E2761"/>
                </a:solidFill>
                <a:latin typeface="Arial"/>
              </a:rPr>
              <a:t>Live for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0207" y="6419087"/>
            <a:ext cx="4495647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Every linked staff member on that roster sees the shift on My Schedule the moment it publishes — no announcement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rost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Generated draft — scored automatically, with gaps called out per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Generate a full roster in one click, see exactly what's short.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The engine reads active staff, skills, VIC appointments, leave and shift rules for the target date and proposes a complete roster — scored out of 100, with every unmet requirement surfaced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One-click generation per date, respecting leave and day-of-week availability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Live skill / seniority / VIC-coverage / gender-balance breakdown per shift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Draft → Submitted → Approved → Published status tracked with full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manual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Filling a gap by hand — the score updates before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ROSTERS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Managers keep the final say, with the score watching in real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Add or remove anyone from a shift and the score, skill coverage and VIC-coverage badges recompute instantly — using the same scoring logic the generator itself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Add-from-bench and remove-in-place, no page reload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Reassign which area of the floor a staff member is covering, right from the same edit view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Overrides are tracked and shown to the approver for context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Nothing is submitted until a manager is satisfied with the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4690776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5605176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Staff directory — employment type, skills, languages,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One record per employee, shared by every downstream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Employment type, contracted hours, seniority, languages, primary skill and day-of-week availability all live on the staff record — the same data the scheduling engine, VIC assignment and leave tracker all read from.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Full-time, part-time, casual and contractor employment types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Per-boutique day-of-week availability, not just a blanket flag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Search by name, HR ID or skill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v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VIC client card — tier, advisors, upcoming appointment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VIC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High-value clients always have a matched advisor on the floor.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Platinum, gold and silver clients each carry preferred languages and a list of affiliated advisors — the roster engine treats an unstaffed VIC appointment as a scoring penalty, not an afterthought.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Tiered client profiles with preferred-language matching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Advisor assignment independent of the roster-generation run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Upcoming appointments tracked per client, with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Shift definitions with per-skill minimum staffing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SHIFTS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Every boutique defines its own shifts and staffing minimums.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Shift times, sort order and validity windows are configured per boutique, each with its own per-skill minimum headcount — plus a closure calendar the engine refuses to schedule against.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Independent shift definitions per boutique — no shared template lock-in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Minimum (and optional maximum) headcount per skill, per shift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Closure dates the engine automatically respects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SHIFTS &amp; ROSTERS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Staffing minimums for a specific part of the floor, not just the shift as a whole.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Areas — Counter, Fitting Room, Concierge, Stockroom, or however a boutique lays out its floor — carry their own skill requirements alongside the shift-wide ones. The scheduling engine fills the tighter, area-specific need first, then rounds out the rest of the shift from whoever's left.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Define any number of areas per boutique, activated or retired independently — no code change to add one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A requirement can be area-specific or shift-wide, and both are supported side by side on the same shift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Every assignment carries its area end to end: roster editing, CSV/PDF export, and each employee's own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6695" y="1280160"/>
            <a:ext cx="507492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1015" y="1481328"/>
            <a:ext cx="45262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  <a:latin typeface="Georgia"/>
              </a:rPr>
              <a:t>Shift: Opening — requirements by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05295" y="2057400"/>
            <a:ext cx="4617720" cy="493776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8175" y="2057400"/>
            <a:ext cx="164592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Counter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59975" y="2121408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CASHIER ×1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295" y="2679192"/>
            <a:ext cx="4617720" cy="493776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8175" y="2679192"/>
            <a:ext cx="164592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Fitting 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59975" y="2743200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SR. STYLIST ×1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05295" y="3300984"/>
            <a:ext cx="4617720" cy="493776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8175" y="3300984"/>
            <a:ext cx="164592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Concierge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59975" y="336499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VIC ADVISOR ×1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5295" y="3922776"/>
            <a:ext cx="4617720" cy="493776"/>
          </a:xfrm>
          <a:prstGeom prst="roundRect">
            <a:avLst>
              <a:gd name="adj" fmla="val 6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8175" y="3922776"/>
            <a:ext cx="164592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Shift-wide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9975" y="3986784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FLOOR MANAGER ×1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695" y="4818888"/>
            <a:ext cx="50749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1">
                <a:solidFill>
                  <a:srgbClr val="6B6B6B"/>
                </a:solidFill>
                <a:latin typeface="Arial"/>
              </a:rPr>
              <a:t>Illustrative — a shift's skill requirements, broken out by area of the floor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5314569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6228969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Eight constraint rules, engine thresholds and scoring weights — all per boutique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Tune the engine without touching a line of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Eight constraint rules — hours, fatigue, compliance, coverage and availability — can each be switched between warning and hard-block, independently per boutique.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Hard-block vs. warning severity, set per rule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Target headcount, max hours, rest hours and VIC boost all editable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Scoring weights validated to sum to 1.0 before saving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n-le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695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Leave register — HR-synced, ad-hoc and manual records side by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ADMIN · LEAVE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Leave feeds straight into who the engine considers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Annual, sick, parental, unpaid and public-holiday leave are tracked per staff member, tagged by source, and automatically exclude that person from generation on those 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Bulk "public holiday" entry for every staff member in one action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HR-synced records are protected from accidental deletion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Filterable by staff, leave type, source and date range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APPROVER · INBOX &amp;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A second pair of eyes, kept structurally separate from the drafter.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425135" cy="1737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Approvers get a dedicated inbox of submitted rosters — score, overrides and full shift detail — with approve, reject (with a note back to the admin) and publish.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5425135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Rejection returns a roster to draft with a reason, no dead ends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Publishing safely replaces any previously published roster for that date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Full approval history — published, rejected and archived — kept separately</a:t>
            </a:r>
          </a:p>
        </p:txBody>
      </p:sp>
      <p:pic>
        <p:nvPicPr>
          <p:cNvPr id="7" name="Picture 6" descr="approver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97" y="822960"/>
            <a:ext cx="3679115" cy="260604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6476695" y="3483864"/>
            <a:ext cx="50749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1">
                <a:solidFill>
                  <a:srgbClr val="6B6B6B"/>
                </a:solidFill>
                <a:latin typeface="Arial"/>
              </a:rPr>
              <a:t>Approval Inbox</a:t>
            </a:r>
          </a:p>
        </p:txBody>
      </p:sp>
      <p:pic>
        <p:nvPicPr>
          <p:cNvPr id="9" name="Picture 8" descr="approver-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97" y="3840480"/>
            <a:ext cx="3679115" cy="260604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476695" y="6501384"/>
            <a:ext cx="507492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1">
                <a:solidFill>
                  <a:srgbClr val="6B6B6B"/>
                </a:solidFill>
                <a:latin typeface="Arial"/>
              </a:rPr>
              <a:t>Approval History — amended vs. published, kept apart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aff-my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455" y="822960"/>
            <a:ext cx="2057400" cy="493776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76695" y="5852160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My Schedule — an employee's own view, on their own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STAFF · MY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Every employee can check their own shifts without asking a manager.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Once a roster is published, each staff member with a linked account sees their own upcoming shifts — shift name, VIC flag and duration — grouped by day, on a mobile-first layout built for checking on the 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Reads only published rosters — never a draft in progress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No admin or approver access required, just a linked staff record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Leave requests and a team view are scoped for a later phase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eader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5074920" cy="3594735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640080" y="4509135"/>
            <a:ext cx="50749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Arial"/>
              </a:rPr>
              <a:t>Read-only roster detail, with CSV and PDF export on every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425135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Arial"/>
              </a:rPr>
              <a:t>READER · PUBLISHED ROSTERS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24128"/>
            <a:ext cx="542513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0" i="0">
                <a:solidFill>
                  <a:srgbClr val="1E2761"/>
                </a:solidFill>
                <a:latin typeface="Georgia"/>
              </a:rPr>
              <a:t>A shared screen or a printout, without a spreadsheet in between.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331720"/>
            <a:ext cx="5425135" cy="1600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6B6B"/>
                </a:solidFill>
                <a:latin typeface="Arial"/>
              </a:rPr>
              <a:t>Lists every published roster for its boutique and expands to the identical staff-mix and rule-flag detail view admins and approvers see, minus any edit controls. Every row exports straight to CSV or a print-ready 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069080"/>
            <a:ext cx="5425135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Shows published rosters only — drafts and pending approvals stay invisible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One-click CSV export for downstream systems, PDF for printing or a shared screen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150">
                <a:solidFill>
                  <a:srgbClr val="C9A84C"/>
                </a:solidFill>
                <a:latin typeface="Arial"/>
              </a:rPr>
              <a:t>✦  </a:t>
            </a:r>
            <a:r>
              <a:rPr sz="1150">
                <a:solidFill>
                  <a:srgbClr val="1A1A1A"/>
                </a:solidFill>
                <a:latin typeface="Arial"/>
              </a:rPr>
              <a:t>No admin or approver access required — a login scoped to one boutique, read-only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BUSINESS AGILITY,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100" b="0" i="0">
                <a:solidFill>
                  <a:srgbClr val="1E2761"/>
                </a:solidFill>
                <a:latin typeface="Georgia"/>
              </a:rPr>
              <a:t>A staff member calls in sick — the morning of a published 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A real run-through, captured from the app: a rostered stylist becomes unavailable after her shift is already live, and the correction goes out through the normal review path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5429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0" i="0">
                <a:solidFill>
                  <a:srgbClr val="E8D09A"/>
                </a:solidFill>
                <a:latin typeface="Georgia"/>
              </a:rPr>
              <a:t>1</a:t>
            </a:r>
          </a:p>
        </p:txBody>
      </p:sp>
      <p:pic>
        <p:nvPicPr>
          <p:cNvPr id="9" name="Picture 8" descr="scenario-leave-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11" y="2240280"/>
            <a:ext cx="2581835" cy="182880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22960" y="4142232"/>
            <a:ext cx="3088538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Arial"/>
              </a:rPr>
              <a:t>LOG THE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61688"/>
            <a:ext cx="308853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Admin · Leave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36008"/>
            <a:ext cx="308853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The admin adds an ad-hoc sick-leave record for today, on the spot — timestamped and attributed like every other leave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65960"/>
            <a:ext cx="345429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3290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290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0" i="0">
                <a:solidFill>
                  <a:srgbClr val="E8D09A"/>
                </a:solidFill>
                <a:latin typeface="Georgia"/>
              </a:rPr>
              <a:t>2</a:t>
            </a:r>
          </a:p>
        </p:txBody>
      </p:sp>
      <p:pic>
        <p:nvPicPr>
          <p:cNvPr id="16" name="Picture 15" descr="scenario-new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929" y="2240280"/>
            <a:ext cx="2581835" cy="182880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4551578" y="4142232"/>
            <a:ext cx="3088538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Arial"/>
              </a:rPr>
              <a:t>REGENERATE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1578" y="4361688"/>
            <a:ext cx="308853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Admin · Rosters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1578" y="4636008"/>
            <a:ext cx="308853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Re-running Generate for the same date automatically excludes her and fills the shift from the bench — no one hunts for a replacement.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1965960"/>
            <a:ext cx="345429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61908" y="18288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1908" y="1828800"/>
            <a:ext cx="365760" cy="3657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300" b="0" i="0">
                <a:solidFill>
                  <a:srgbClr val="E8D09A"/>
                </a:solidFill>
                <a:latin typeface="Georgia"/>
              </a:rPr>
              <a:t>3</a:t>
            </a:r>
          </a:p>
        </p:txBody>
      </p:sp>
      <p:pic>
        <p:nvPicPr>
          <p:cNvPr id="23" name="Picture 22" descr="scenario-history-superse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547" y="2240280"/>
            <a:ext cx="2581835" cy="1828800"/>
          </a:xfrm>
          <a:prstGeom prst="rect">
            <a:avLst/>
          </a:prstGeom>
          <a:ln w="9525">
            <a:solidFill>
              <a:srgbClr val="E3E1DA"/>
            </a:solidFill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8280196" y="4142232"/>
            <a:ext cx="3088538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Arial"/>
              </a:rPr>
              <a:t>RE-APPROVE &amp; PUBLISH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0196" y="4361688"/>
            <a:ext cx="3088538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Arial"/>
              </a:rPr>
              <a:t>Approver ·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196" y="4636008"/>
            <a:ext cx="3088538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Submitted and published through the same approval step as any roster. The record for this date now shows both versions.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806440"/>
            <a:ext cx="10911535" cy="868680"/>
          </a:xfrm>
          <a:prstGeom prst="roundRect">
            <a:avLst>
              <a:gd name="adj" fmla="val 6000"/>
            </a:avLst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97880"/>
            <a:ext cx="457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b="0" i="0">
                <a:solidFill>
                  <a:srgbClr val="C9A84C"/>
                </a:solidFill>
                <a:latin typeface="Arial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888736"/>
            <a:ext cx="9814255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D8D7E8"/>
                </a:solidFill>
                <a:latin typeface="Arial"/>
              </a:rPr>
              <a:t>Same day, one date, two versions, zero manual reconciliation: the corrected roster is published, the original is kept as an Amended record rather than deleted.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BUDGET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6656"/>
            <a:ext cx="10911535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Georgia"/>
              </a:rPr>
              <a:t>What each role's screen time is worth.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50" b="0" i="0">
                <a:solidFill>
                  <a:srgbClr val="B9B8C9"/>
                </a:solidFill>
                <a:latin typeface="Arial"/>
              </a:rPr>
              <a:t>Framed the way a budget review usually wants it: who uses which portal, and what it replaces.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28800"/>
          <a:ext cx="1081735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3108960"/>
                <a:gridCol w="2679192"/>
              </a:tblGrid>
              <a:tr h="576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PORTAL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TYPICAL USER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REPLACES / REDUCES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9A84C"/>
                          </a:solidFill>
                          <a:latin typeface="Arial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Admin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Rosters, Staff, VIC, Shifts, Rules, Leave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Store or regional operations admin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Manual spreadsheet rostering, side-channel leave tracking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One generation run replaces hours of manual shift-building per boutique per week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Approver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Inbox, History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Boutique or regional manager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Ad-hoc email/print sign-off with no audit trail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A single queue with a permanent, searchable approval record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Staff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My Schedule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Every floor employee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"What's my shift?" messages to the manager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Removes a constant low-value interruption from every admin's day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Reader</a:t>
                      </a:r>
                    </a:p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9C9BB5"/>
                          </a:solidFill>
                          <a:latin typeface="Arial"/>
                        </a:rPr>
                        <a:t>Published Rosters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Shared/back-of-house display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Printed roster taped to a wall, manual CSV exports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900">
                          <a:solidFill>
                            <a:srgbClr val="C7C6DA"/>
                          </a:solidFill>
                          <a:latin typeface="Arial"/>
                        </a:rPr>
                        <a:t>Always-current view, plus one-click CSV/PDF export, with no reprint cycle</a:t>
                      </a:r>
                    </a:p>
                  </a:txBody>
                  <a:tcPr marT="76200" marB="76200">
                    <a:solidFill>
                      <a:srgbClr val="141D4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937760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1C2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47488"/>
            <a:ext cx="10362895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050" b="1" i="0">
                <a:solidFill>
                  <a:srgbClr val="E8D09A"/>
                </a:solidFill>
                <a:latin typeface="Arial"/>
              </a:rPr>
              <a:t>COST OF SCALING TO MORE BOUTIQUES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21808"/>
            <a:ext cx="10362895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9B8C9"/>
                </a:solidFill>
                <a:latin typeface="Arial"/>
              </a:rPr>
              <a:t>Staff, VIC clients, shifts, rules and scoring weights are configured per boutique inside the same deployment. Adding a store is a data-entry and configuration exercise, not a new engineering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6080760"/>
            <a:ext cx="196596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144768"/>
            <a:ext cx="174650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No backend server to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6080760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6144768"/>
            <a:ext cx="298094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No compute costs for the scheduling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6080760"/>
            <a:ext cx="278892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6144768"/>
            <a:ext cx="256946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One data model across every boutique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6080760"/>
            <a:ext cx="2171700" cy="384048"/>
          </a:xfrm>
          <a:prstGeom prst="roundRect">
            <a:avLst>
              <a:gd name="adj" fmla="val 6000"/>
            </a:avLst>
          </a:prstGeom>
          <a:solidFill>
            <a:srgbClr val="24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6144768"/>
            <a:ext cx="1952244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50" b="0" i="0">
                <a:solidFill>
                  <a:srgbClr val="C7C6DA"/>
                </a:solidFill>
                <a:latin typeface="Arial"/>
              </a:rPr>
              <a:t>Auto-deploy on every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Arial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0" i="0">
                <a:solidFill>
                  <a:srgbClr val="1E2761"/>
                </a:solidFill>
                <a:latin typeface="Georgia"/>
              </a:rPr>
              <a:t>Scoped, not hidden.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1153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Arial"/>
              </a:rPr>
              <a:t>A few screens are intentionally stubbed for a later phase rather than rushed — worth knowing for planning purposes.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1860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636422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PHASE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4861407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Arial"/>
              </a:rPr>
              <a:t>Staff leave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4861407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Arial"/>
              </a:rPr>
              <a:t>Let employees submit their own unavailability instead of going through an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286000"/>
            <a:ext cx="531860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61607" y="2514600"/>
            <a:ext cx="636422" cy="256032"/>
          </a:xfrm>
          <a:prstGeom prst="roundRect">
            <a:avLst>
              <a:gd name="adj" fmla="val 50000"/>
            </a:avLst>
          </a:prstGeom>
          <a:solidFill>
            <a:srgbClr val="FDF0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>
            <a:noAutofit/>
          </a:bodyPr>
          <a:lstStyle/>
          <a:p>
            <a:pPr algn="ctr"/>
            <a:r>
              <a:rPr sz="900" b="1">
                <a:solidFill>
                  <a:srgbClr val="8A5A12"/>
                </a:solidFill>
                <a:latin typeface="Arial"/>
              </a:rP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971800"/>
            <a:ext cx="4861407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Arial"/>
              </a:rPr>
              <a:t>Team view for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3703320"/>
            <a:ext cx="4861407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6B6B"/>
                </a:solidFill>
                <a:latin typeface="Arial"/>
              </a:rPr>
              <a:t>Let staff see the published roster for their whole boutique, not just their own shifts.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468880"/>
            <a:ext cx="8534095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3000" b="0" i="0">
                <a:solidFill>
                  <a:srgbClr val="C9A84C"/>
                </a:solidFill>
                <a:latin typeface="Arial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48495" cy="11887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700" b="0" i="0">
                <a:solidFill>
                  <a:srgbClr val="FFFFFF"/>
                </a:solidFill>
                <a:latin typeface="Georgia"/>
              </a:rPr>
              <a:t>Four roles. One system. Built to add the</a:t>
            </a:r>
          </a:p>
          <a:p>
            <a:pPr algn="ctr">
              <a:lnSpc>
                <a:spcPct val="120000"/>
              </a:lnSpc>
            </a:pPr>
            <a:r>
              <a:rPr sz="2700" b="0" i="0">
                <a:solidFill>
                  <a:srgbClr val="FFFFFF"/>
                </a:solidFill>
                <a:latin typeface="Georgia"/>
              </a:rPr>
              <a:t>next boutique, not rebuild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43400"/>
            <a:ext cx="7619695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0" i="0">
                <a:solidFill>
                  <a:srgbClr val="9C9BB5"/>
                </a:solidFill>
                <a:latin typeface="Arial"/>
              </a:rPr>
              <a:t>Product overview for internal budget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